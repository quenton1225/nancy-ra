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6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684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39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629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804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671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012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895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436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293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140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5250CF-5A96-4050-9C8F-498E30CF43E6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83DFB1F-2D9F-4E5C-BFCE-BA2B58FB0112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05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4771D-AB99-04DB-C05E-E58271B8D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Literature</a:t>
            </a:r>
            <a:r>
              <a:rPr lang="zh-CN" altLang="en-US" dirty="0"/>
              <a:t> </a:t>
            </a:r>
            <a:r>
              <a:rPr lang="en-US" altLang="zh-CN" dirty="0"/>
              <a:t>Review</a:t>
            </a:r>
            <a:endParaRPr lang="LID4096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20213A-966C-D10E-48AE-32D0B0101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2026/03/30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3333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A72A9-1374-2469-BEBF-6CC75668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神经多样性学习者的眼动驱动自适应学习系统：文献证据与实验设计路线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A4CD0B-20FD-7E6E-49E0-C5C814B58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研究对象：神经多样性学习者（重点关注注意力与理解波动）</a:t>
            </a:r>
          </a:p>
          <a:p>
            <a:r>
              <a:rPr lang="zh-CN" altLang="en-US" dirty="0"/>
              <a:t>研究问题：能否用眼动与行为信号实现可解释、可部署的实时个性化支持</a:t>
            </a:r>
          </a:p>
          <a:p>
            <a:r>
              <a:rPr lang="zh-CN" altLang="en-US" dirty="0"/>
              <a:t>本次汇报目标：</a:t>
            </a:r>
          </a:p>
          <a:p>
            <a:pPr lvl="1"/>
            <a:r>
              <a:rPr lang="zh-CN" altLang="en-US" dirty="0"/>
              <a:t>梳理</a:t>
            </a:r>
            <a:r>
              <a:rPr lang="en-US" altLang="zh-CN" dirty="0"/>
              <a:t>25</a:t>
            </a:r>
            <a:r>
              <a:rPr lang="zh-CN" altLang="en-US" dirty="0"/>
              <a:t>篇文献证据</a:t>
            </a:r>
          </a:p>
          <a:p>
            <a:pPr lvl="1"/>
            <a:r>
              <a:rPr lang="zh-CN" altLang="en-US" dirty="0"/>
              <a:t>给出可执行的</a:t>
            </a:r>
            <a:r>
              <a:rPr lang="en-US" altLang="zh-CN" dirty="0"/>
              <a:t>Exp1A</a:t>
            </a:r>
            <a:r>
              <a:rPr lang="zh-CN" altLang="en-US" dirty="0"/>
              <a:t>设计建议</a:t>
            </a:r>
          </a:p>
          <a:p>
            <a:pPr lvl="1"/>
            <a:r>
              <a:rPr lang="zh-CN" altLang="en-US" dirty="0"/>
              <a:t>明确风险边界与下一步行动</a:t>
            </a:r>
          </a:p>
          <a:p>
            <a:r>
              <a:rPr lang="zh-CN" altLang="en-US" dirty="0"/>
              <a:t>当前文档状态：</a:t>
            </a:r>
            <a:r>
              <a:rPr lang="en-US" altLang="zh-CN" dirty="0"/>
              <a:t>25</a:t>
            </a:r>
            <a:r>
              <a:rPr lang="zh-CN" altLang="en-US" dirty="0"/>
              <a:t>篇（日期 </a:t>
            </a:r>
            <a:r>
              <a:rPr lang="en-US" altLang="zh-CN" dirty="0"/>
              <a:t>2026-03-30</a:t>
            </a:r>
            <a:r>
              <a:rPr lang="zh-CN" altLang="en-US" dirty="0"/>
              <a:t>）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7841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45C77-B172-F492-981D-52919C0EF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为什么要做：问题背景与现实缺口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FEE27-5791-C348-3EE6-908E94616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传统一刀切学习系统对神经多样性人群支持不足</a:t>
            </a:r>
          </a:p>
          <a:p>
            <a:r>
              <a:rPr lang="zh-CN" altLang="en-US" dirty="0"/>
              <a:t>传统平台主要按神经典型学习者设计，难覆盖差异化需求</a:t>
            </a:r>
          </a:p>
          <a:p>
            <a:r>
              <a:rPr lang="zh-CN" altLang="en-US" dirty="0"/>
              <a:t>现有个性化系统常见问题：</a:t>
            </a:r>
          </a:p>
          <a:p>
            <a:pPr lvl="1"/>
            <a:r>
              <a:rPr lang="zh-CN" altLang="en-US" dirty="0"/>
              <a:t>个体差异建模不充分</a:t>
            </a:r>
          </a:p>
          <a:p>
            <a:pPr lvl="1"/>
            <a:r>
              <a:rPr lang="zh-CN" altLang="en-US" dirty="0"/>
              <a:t>实时状态感知不足</a:t>
            </a:r>
          </a:p>
          <a:p>
            <a:pPr lvl="1"/>
            <a:r>
              <a:rPr lang="zh-CN" altLang="en-US" dirty="0"/>
              <a:t>干预策略可解释性弱</a:t>
            </a:r>
          </a:p>
          <a:p>
            <a:r>
              <a:rPr lang="zh-CN" altLang="en-US" dirty="0"/>
              <a:t>研究切入点：眼动作为低侵入、连续、可实时获取的状态信号</a:t>
            </a:r>
          </a:p>
          <a:p>
            <a:r>
              <a:rPr lang="zh-CN" altLang="en-US" b="1" dirty="0"/>
              <a:t>可放的具体证据</a:t>
            </a:r>
          </a:p>
          <a:p>
            <a:r>
              <a:rPr lang="en-US" altLang="zh-CN" dirty="0"/>
              <a:t>A003</a:t>
            </a:r>
            <a:r>
              <a:rPr lang="zh-CN" altLang="en-US" dirty="0"/>
              <a:t>系统综述（</a:t>
            </a:r>
            <a:r>
              <a:rPr lang="en-US" altLang="zh-CN" dirty="0"/>
              <a:t>82</a:t>
            </a:r>
            <a:r>
              <a:rPr lang="zh-CN" altLang="en-US" dirty="0"/>
              <a:t>篇，</a:t>
            </a:r>
            <a:r>
              <a:rPr lang="en-US" altLang="zh-CN" dirty="0"/>
              <a:t>2020-2024</a:t>
            </a:r>
            <a:r>
              <a:rPr lang="zh-CN" altLang="en-US" dirty="0"/>
              <a:t>）指出个性化与适应性不足</a:t>
            </a:r>
          </a:p>
          <a:p>
            <a:r>
              <a:rPr lang="en-US" altLang="zh-CN" dirty="0"/>
              <a:t>A001</a:t>
            </a:r>
            <a:r>
              <a:rPr lang="zh-CN" altLang="en-US" dirty="0"/>
              <a:t>强调“超越合规式无障碍”，转向参与式、以神经多样性为中心的设计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82819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65458-9CD3-719D-91D2-9C2A787C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证据集与筛选结构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36DB7-4E8A-0037-EAF1-DBF473830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分层结构：</a:t>
            </a:r>
          </a:p>
          <a:p>
            <a:pPr lvl="1"/>
            <a:r>
              <a:rPr lang="en-US" dirty="0"/>
              <a:t>Keep-High：</a:t>
            </a:r>
            <a:r>
              <a:rPr lang="zh-CN" altLang="en-US" dirty="0"/>
              <a:t>直接用于方法基线与实验参数</a:t>
            </a:r>
          </a:p>
          <a:p>
            <a:pPr lvl="1"/>
            <a:r>
              <a:rPr lang="en-US" dirty="0"/>
              <a:t>Keep-Medium：</a:t>
            </a:r>
            <a:r>
              <a:rPr lang="zh-CN" altLang="en-US" dirty="0"/>
              <a:t>用于设计补充与风险解释</a:t>
            </a:r>
          </a:p>
          <a:p>
            <a:pPr lvl="1"/>
            <a:r>
              <a:rPr lang="en-US" dirty="0"/>
              <a:t>Maybe：</a:t>
            </a:r>
            <a:r>
              <a:rPr lang="zh-CN" altLang="en-US" dirty="0"/>
              <a:t>作为边缘方向与扩展参考</a:t>
            </a:r>
          </a:p>
          <a:p>
            <a:r>
              <a:rPr lang="zh-CN" altLang="en-US" b="1" dirty="0"/>
              <a:t>评估维度：</a:t>
            </a:r>
          </a:p>
          <a:p>
            <a:pPr lvl="1"/>
            <a:r>
              <a:rPr lang="zh-CN" altLang="en-US" dirty="0"/>
              <a:t>学术可信度（</a:t>
            </a:r>
            <a:r>
              <a:rPr lang="en-US" dirty="0"/>
              <a:t>Academic Trust）</a:t>
            </a:r>
          </a:p>
          <a:p>
            <a:pPr lvl="1"/>
            <a:r>
              <a:rPr lang="zh-CN" altLang="en-US" dirty="0"/>
              <a:t>工程可用性（</a:t>
            </a:r>
            <a:r>
              <a:rPr lang="en-US" dirty="0"/>
              <a:t>Engineering Usability）</a:t>
            </a:r>
          </a:p>
          <a:p>
            <a:pPr lvl="1"/>
            <a:r>
              <a:rPr lang="zh-CN" altLang="en-US" dirty="0"/>
              <a:t>直接转移指数（任务匹配度）</a:t>
            </a:r>
          </a:p>
        </p:txBody>
      </p:sp>
    </p:spTree>
    <p:extLst>
      <p:ext uri="{BB962C8B-B14F-4D97-AF65-F5344CB8AC3E}">
        <p14:creationId xmlns:p14="http://schemas.microsoft.com/office/powerpoint/2010/main" val="209706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3079-78BA-9D47-CA4A-8E53FEA1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zh-CN" altLang="en-US" b="1" dirty="0"/>
              <a:t>方法证据链</a:t>
            </a:r>
            <a:r>
              <a:rPr lang="en-US" altLang="zh-CN" b="1" dirty="0"/>
              <a:t>1</a:t>
            </a:r>
            <a:r>
              <a:rPr lang="zh-CN" altLang="en-US" b="1" dirty="0"/>
              <a:t>：眼动能否识别认知状态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5B1DC6-745A-3864-87DA-4D98F6AD5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眼动特征对认知负荷与干扰状态具备预测能力</a:t>
            </a:r>
          </a:p>
          <a:p>
            <a:r>
              <a:rPr lang="zh-CN" altLang="en-US" dirty="0"/>
              <a:t>眼动特征工程已有可复用路径：注视、扫视、瞳孔等</a:t>
            </a:r>
          </a:p>
          <a:p>
            <a:r>
              <a:rPr lang="zh-CN" altLang="en-US" dirty="0"/>
              <a:t>既有研究证明可进行多级认知状态分类</a:t>
            </a:r>
          </a:p>
          <a:p>
            <a:r>
              <a:rPr lang="zh-CN" altLang="en-US" dirty="0"/>
              <a:t>结论：眼动可作为</a:t>
            </a:r>
            <a:r>
              <a:rPr lang="en-US" altLang="zh-CN" dirty="0"/>
              <a:t>Exp1A</a:t>
            </a:r>
            <a:r>
              <a:rPr lang="zh-CN" altLang="en-US" dirty="0"/>
              <a:t>的核心输入模态之一</a:t>
            </a:r>
          </a:p>
          <a:p>
            <a:r>
              <a:rPr lang="zh-CN" altLang="en-US" b="1" dirty="0"/>
              <a:t>证据</a:t>
            </a:r>
          </a:p>
          <a:p>
            <a:r>
              <a:rPr lang="en-US" altLang="zh-CN" dirty="0"/>
              <a:t>C001</a:t>
            </a:r>
            <a:r>
              <a:rPr lang="zh-CN" altLang="en-US" dirty="0"/>
              <a:t>：基于眼动的认知干扰检测，分类准确率超过</a:t>
            </a:r>
            <a:r>
              <a:rPr lang="en-US" altLang="zh-CN" dirty="0"/>
              <a:t>80%</a:t>
            </a:r>
          </a:p>
          <a:p>
            <a:r>
              <a:rPr lang="en-US" altLang="zh-CN" dirty="0"/>
              <a:t>C002</a:t>
            </a:r>
            <a:r>
              <a:rPr lang="zh-CN" altLang="en-US" dirty="0"/>
              <a:t>：三级认知负荷分类；使用可解释逻辑回归与小特征集（</a:t>
            </a:r>
            <a:r>
              <a:rPr lang="en-US" altLang="zh-CN" dirty="0"/>
              <a:t>6</a:t>
            </a:r>
            <a:r>
              <a:rPr lang="zh-CN" altLang="en-US" dirty="0"/>
              <a:t>特征）</a:t>
            </a:r>
          </a:p>
          <a:p>
            <a:r>
              <a:rPr lang="en-US" altLang="zh-CN" dirty="0"/>
              <a:t>C004</a:t>
            </a:r>
            <a:r>
              <a:rPr lang="zh-CN" altLang="en-US" dirty="0"/>
              <a:t>：学习日志预测标准可与眼动特征工程互补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9364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A23D4-D30D-152E-62B7-11588F5C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rmAutofit/>
          </a:bodyPr>
          <a:lstStyle/>
          <a:p>
            <a:r>
              <a:rPr lang="zh-CN" altLang="en-US" b="1" dirty="0"/>
              <a:t>方法证据链</a:t>
            </a:r>
            <a:r>
              <a:rPr lang="en-US" altLang="zh-CN" b="1" dirty="0"/>
              <a:t>2</a:t>
            </a:r>
            <a:r>
              <a:rPr lang="zh-CN" altLang="en-US" b="1" dirty="0"/>
              <a:t>：神经多样性专用建模必要性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9BD192-7943-6565-6136-2A1B2B2B1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一刀切模型不够：分群建模与诊断特异建模更优</a:t>
            </a:r>
          </a:p>
          <a:p>
            <a:r>
              <a:rPr lang="zh-CN" altLang="en-US" dirty="0"/>
              <a:t>通用模型在神经多样性群体上的表现存在下降风险</a:t>
            </a:r>
          </a:p>
          <a:p>
            <a:r>
              <a:rPr lang="zh-CN" altLang="en-US" dirty="0"/>
              <a:t>需要“群体敏感”的模型训练与评估框架</a:t>
            </a:r>
          </a:p>
          <a:p>
            <a:r>
              <a:rPr lang="zh-CN" altLang="en-US" dirty="0"/>
              <a:t>实践建议：至少对关键子群体进行独立评估</a:t>
            </a:r>
          </a:p>
          <a:p>
            <a:r>
              <a:rPr lang="zh-CN" altLang="en-US" b="1" dirty="0"/>
              <a:t>证据</a:t>
            </a:r>
          </a:p>
          <a:p>
            <a:r>
              <a:rPr lang="en-US" altLang="zh-CN" dirty="0"/>
              <a:t>A008</a:t>
            </a:r>
            <a:r>
              <a:rPr lang="zh-CN" altLang="en-US" dirty="0"/>
              <a:t>：特定诊断模型优于通用模型，明确反对</a:t>
            </a:r>
            <a:r>
              <a:rPr lang="en-US" altLang="zh-CN" dirty="0"/>
              <a:t>one-size-fits-all</a:t>
            </a:r>
          </a:p>
          <a:p>
            <a:r>
              <a:rPr lang="en-US" altLang="zh-CN" dirty="0"/>
              <a:t>C007</a:t>
            </a:r>
            <a:r>
              <a:rPr lang="zh-CN" altLang="en-US" dirty="0"/>
              <a:t>：大样本（</a:t>
            </a:r>
            <a:r>
              <a:rPr lang="en-US" altLang="zh-CN" dirty="0"/>
              <a:t>N=354</a:t>
            </a:r>
            <a:r>
              <a:rPr lang="zh-CN" altLang="en-US" dirty="0"/>
              <a:t>）</a:t>
            </a:r>
            <a:r>
              <a:rPr lang="en-US" altLang="zh-CN" dirty="0"/>
              <a:t>Webcam</a:t>
            </a:r>
            <a:r>
              <a:rPr lang="zh-CN" altLang="en-US" dirty="0"/>
              <a:t>眼动，</a:t>
            </a:r>
            <a:r>
              <a:rPr lang="en-US" altLang="zh-CN" dirty="0"/>
              <a:t>AUROC</a:t>
            </a:r>
            <a:r>
              <a:rPr lang="zh-CN" altLang="en-US" dirty="0"/>
              <a:t>约</a:t>
            </a:r>
            <a:r>
              <a:rPr lang="en-US" altLang="zh-CN" dirty="0"/>
              <a:t>0.53-0.61</a:t>
            </a:r>
            <a:r>
              <a:rPr lang="zh-CN" altLang="en-US" dirty="0"/>
              <a:t>（现实性能基线）</a:t>
            </a:r>
          </a:p>
          <a:p>
            <a:r>
              <a:rPr lang="en-US" altLang="zh-CN" dirty="0"/>
              <a:t>A007</a:t>
            </a:r>
            <a:r>
              <a:rPr lang="zh-CN" altLang="en-US" dirty="0"/>
              <a:t>：神经多样性课堂实证（</a:t>
            </a:r>
            <a:r>
              <a:rPr lang="en-US" altLang="zh-CN" dirty="0"/>
              <a:t>N=43</a:t>
            </a:r>
            <a:r>
              <a:rPr lang="zh-CN" altLang="en-US" dirty="0"/>
              <a:t>），验证了</a:t>
            </a:r>
            <a:r>
              <a:rPr lang="en-US" altLang="zh-CN" dirty="0"/>
              <a:t>Webcam</a:t>
            </a:r>
            <a:r>
              <a:rPr lang="zh-CN" altLang="en-US" dirty="0"/>
              <a:t>眼动在教育场景可行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5411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3226E-806B-E240-EABF-3CC36D4E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方法证据链</a:t>
            </a:r>
            <a:r>
              <a:rPr lang="en-US" altLang="zh-CN" b="1" dirty="0"/>
              <a:t>3</a:t>
            </a:r>
            <a:r>
              <a:rPr lang="zh-CN" altLang="en-US" b="1" dirty="0"/>
              <a:t>：从状态识别到自适应决策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52E985-8EA6-0DD4-313E-CFFCBC798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从“看懂状态”走向“实时干预”：</a:t>
            </a:r>
            <a:r>
              <a:rPr lang="en-US" altLang="zh-CN" b="1" dirty="0"/>
              <a:t>RL</a:t>
            </a:r>
            <a:r>
              <a:rPr lang="zh-CN" altLang="en-US" b="1" dirty="0"/>
              <a:t>与</a:t>
            </a:r>
            <a:r>
              <a:rPr lang="en-US" altLang="zh-CN" b="1" dirty="0"/>
              <a:t>DRL</a:t>
            </a:r>
            <a:r>
              <a:rPr lang="zh-CN" altLang="en-US" b="1" dirty="0"/>
              <a:t>路径</a:t>
            </a:r>
          </a:p>
          <a:p>
            <a:r>
              <a:rPr lang="zh-CN" altLang="en-US" dirty="0"/>
              <a:t>识别只是第一步，关键在于何时干预、如何干预</a:t>
            </a:r>
          </a:p>
          <a:p>
            <a:r>
              <a:rPr lang="en-US" altLang="zh-CN" dirty="0"/>
              <a:t>RL/DRL</a:t>
            </a:r>
            <a:r>
              <a:rPr lang="zh-CN" altLang="en-US" dirty="0"/>
              <a:t>适合做序列化决策（学习路径、时机、难度）</a:t>
            </a:r>
          </a:p>
          <a:p>
            <a:r>
              <a:rPr lang="zh-CN" altLang="en-US" dirty="0"/>
              <a:t>推荐采用“保守适配”策略，减少不必要干预</a:t>
            </a:r>
          </a:p>
          <a:p>
            <a:r>
              <a:rPr lang="zh-CN" altLang="en-US" b="1" dirty="0"/>
              <a:t>证据</a:t>
            </a:r>
          </a:p>
          <a:p>
            <a:r>
              <a:rPr lang="en-US" altLang="zh-CN" dirty="0"/>
              <a:t>B001</a:t>
            </a:r>
            <a:r>
              <a:rPr lang="zh-CN" altLang="en-US" dirty="0"/>
              <a:t>：模型式强化学习用于保守</a:t>
            </a:r>
            <a:r>
              <a:rPr lang="en-US" altLang="zh-CN" dirty="0"/>
              <a:t>UI</a:t>
            </a:r>
            <a:r>
              <a:rPr lang="zh-CN" altLang="en-US" dirty="0"/>
              <a:t>自适应策略</a:t>
            </a:r>
          </a:p>
          <a:p>
            <a:r>
              <a:rPr lang="en-US" altLang="zh-CN" dirty="0"/>
              <a:t>C008</a:t>
            </a:r>
            <a:r>
              <a:rPr lang="zh-CN" altLang="en-US" dirty="0"/>
              <a:t>：眼动驱动的实时适配案例，报告学习表现提升</a:t>
            </a:r>
          </a:p>
          <a:p>
            <a:r>
              <a:rPr lang="en-US" altLang="zh-CN" dirty="0"/>
              <a:t>B009</a:t>
            </a:r>
            <a:r>
              <a:rPr lang="zh-CN" altLang="en-US" dirty="0"/>
              <a:t>：</a:t>
            </a:r>
            <a:r>
              <a:rPr lang="en-US" altLang="zh-CN" dirty="0"/>
              <a:t>DRL</a:t>
            </a:r>
            <a:r>
              <a:rPr lang="zh-CN" altLang="en-US" dirty="0"/>
              <a:t>用于个性化学习路径与实时反馈优化（多模态融合方向）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29392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EB729-BE36-5D85-9910-54C24C05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工程实现蓝图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4639A-D83E-B9CC-7937-0B9400C7F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最小可行系统</a:t>
            </a:r>
            <a:endParaRPr lang="en-US" altLang="zh-CN" b="1" dirty="0"/>
          </a:p>
          <a:p>
            <a:r>
              <a:rPr lang="zh-CN" altLang="en-US" dirty="0"/>
              <a:t>输入层：眼动信号 </a:t>
            </a:r>
            <a:r>
              <a:rPr lang="en-US" altLang="zh-CN" dirty="0"/>
              <a:t>+ </a:t>
            </a:r>
            <a:r>
              <a:rPr lang="zh-CN" altLang="en-US" dirty="0"/>
              <a:t>行为日志</a:t>
            </a:r>
          </a:p>
          <a:p>
            <a:r>
              <a:rPr lang="zh-CN" altLang="en-US" dirty="0"/>
              <a:t>推断层：认知负荷</a:t>
            </a:r>
            <a:r>
              <a:rPr lang="en-US" altLang="zh-CN" dirty="0"/>
              <a:t>/</a:t>
            </a:r>
            <a:r>
              <a:rPr lang="zh-CN" altLang="en-US" dirty="0"/>
              <a:t>注意状态分级模型（先可解释模型）</a:t>
            </a:r>
          </a:p>
          <a:p>
            <a:r>
              <a:rPr lang="zh-CN" altLang="en-US" dirty="0"/>
              <a:t>决策层：触发规则 </a:t>
            </a:r>
            <a:r>
              <a:rPr lang="en-US" altLang="zh-CN" dirty="0"/>
              <a:t>+ </a:t>
            </a:r>
            <a:r>
              <a:rPr lang="zh-CN" altLang="en-US" dirty="0"/>
              <a:t>轻量自适应策略（难度</a:t>
            </a:r>
            <a:r>
              <a:rPr lang="en-US" altLang="zh-CN" dirty="0"/>
              <a:t>/</a:t>
            </a:r>
            <a:r>
              <a:rPr lang="zh-CN" altLang="en-US" dirty="0"/>
              <a:t>节奏</a:t>
            </a:r>
            <a:r>
              <a:rPr lang="en-US" altLang="zh-CN" dirty="0"/>
              <a:t>/</a:t>
            </a:r>
            <a:r>
              <a:rPr lang="zh-CN" altLang="en-US" dirty="0"/>
              <a:t>提示</a:t>
            </a:r>
            <a:r>
              <a:rPr lang="en-US" altLang="zh-CN" dirty="0"/>
              <a:t>/</a:t>
            </a:r>
            <a:r>
              <a:rPr lang="zh-CN" altLang="en-US" dirty="0"/>
              <a:t>休息建议）</a:t>
            </a:r>
          </a:p>
          <a:p>
            <a:r>
              <a:rPr lang="zh-CN" altLang="en-US" dirty="0"/>
              <a:t>输出层：学习界面动态调整与教师可读反馈</a:t>
            </a:r>
          </a:p>
          <a:p>
            <a:r>
              <a:rPr lang="zh-CN" altLang="en-US" b="1" dirty="0"/>
              <a:t>证据</a:t>
            </a:r>
          </a:p>
          <a:p>
            <a:r>
              <a:rPr lang="en-US" altLang="zh-CN" dirty="0"/>
              <a:t>C002</a:t>
            </a:r>
            <a:r>
              <a:rPr lang="zh-CN" altLang="en-US" dirty="0"/>
              <a:t>支持“先可解释模型”路线</a:t>
            </a:r>
          </a:p>
          <a:p>
            <a:r>
              <a:rPr lang="en-US" altLang="zh-CN" dirty="0"/>
              <a:t>C001/C004</a:t>
            </a:r>
            <a:r>
              <a:rPr lang="zh-CN" altLang="en-US" dirty="0"/>
              <a:t>支持眼动与日志特征联合建模</a:t>
            </a:r>
          </a:p>
          <a:p>
            <a:r>
              <a:rPr lang="en-US" altLang="zh-CN" dirty="0"/>
              <a:t>A004</a:t>
            </a:r>
            <a:r>
              <a:rPr lang="zh-CN" altLang="en-US" dirty="0"/>
              <a:t>支持认知负荷监测与休息建议作为有效干预类型</a:t>
            </a:r>
          </a:p>
        </p:txBody>
      </p:sp>
    </p:spTree>
    <p:extLst>
      <p:ext uri="{BB962C8B-B14F-4D97-AF65-F5344CB8AC3E}">
        <p14:creationId xmlns:p14="http://schemas.microsoft.com/office/powerpoint/2010/main" val="16892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81692-8BAD-CBE1-DDFC-0532AABA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实验设计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1575A-8F77-AFE1-D906-7F840BE93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Exp1A</a:t>
            </a:r>
            <a:r>
              <a:rPr lang="zh-CN" altLang="en-US" b="1" dirty="0"/>
              <a:t>建议参数：样本、特征、任务与基线</a:t>
            </a:r>
          </a:p>
          <a:p>
            <a:r>
              <a:rPr lang="zh-CN" altLang="en-US" dirty="0"/>
              <a:t>样本建议：</a:t>
            </a:r>
            <a:r>
              <a:rPr lang="en-US" altLang="zh-CN" dirty="0"/>
              <a:t>100-150</a:t>
            </a:r>
            <a:r>
              <a:rPr lang="zh-CN" altLang="en-US" dirty="0"/>
              <a:t>作为阶段目标（兼顾可行性与统计稳定性）</a:t>
            </a:r>
          </a:p>
          <a:p>
            <a:r>
              <a:rPr lang="zh-CN" altLang="en-US" dirty="0"/>
              <a:t>特征建议：先从</a:t>
            </a:r>
            <a:r>
              <a:rPr lang="en-US" altLang="zh-CN" dirty="0"/>
              <a:t>6</a:t>
            </a:r>
            <a:r>
              <a:rPr lang="zh-CN" altLang="en-US" dirty="0"/>
              <a:t>个核心眼动特征起步，再逐步扩展</a:t>
            </a:r>
          </a:p>
          <a:p>
            <a:r>
              <a:rPr lang="zh-CN" altLang="en-US" dirty="0"/>
              <a:t>分类建议：先做三级状态（低</a:t>
            </a:r>
            <a:r>
              <a:rPr lang="en-US" altLang="zh-CN" dirty="0"/>
              <a:t>/</a:t>
            </a:r>
            <a:r>
              <a:rPr lang="zh-CN" altLang="en-US" dirty="0"/>
              <a:t>中</a:t>
            </a:r>
            <a:r>
              <a:rPr lang="en-US" altLang="zh-CN" dirty="0"/>
              <a:t>/</a:t>
            </a:r>
            <a:r>
              <a:rPr lang="zh-CN" altLang="en-US" dirty="0"/>
              <a:t>高）以服务干预阈值</a:t>
            </a:r>
          </a:p>
          <a:p>
            <a:r>
              <a:rPr lang="zh-CN" altLang="en-US" dirty="0"/>
              <a:t>对照建议：非自适应 </a:t>
            </a:r>
            <a:r>
              <a:rPr lang="en-US" altLang="zh-CN" dirty="0"/>
              <a:t>vs </a:t>
            </a:r>
            <a:r>
              <a:rPr lang="zh-CN" altLang="en-US" dirty="0"/>
              <a:t>规则自适应 </a:t>
            </a:r>
            <a:r>
              <a:rPr lang="en-US" altLang="zh-CN" dirty="0"/>
              <a:t>vs </a:t>
            </a:r>
            <a:r>
              <a:rPr lang="zh-CN" altLang="en-US" dirty="0"/>
              <a:t>学习策略</a:t>
            </a:r>
          </a:p>
          <a:p>
            <a:r>
              <a:rPr lang="zh-CN" altLang="en-US" b="1" dirty="0"/>
              <a:t>证据</a:t>
            </a:r>
          </a:p>
          <a:p>
            <a:r>
              <a:rPr lang="zh-CN" altLang="en-US" dirty="0"/>
              <a:t>样本参考：</a:t>
            </a:r>
            <a:r>
              <a:rPr lang="en-US" altLang="zh-CN" dirty="0"/>
              <a:t>C007</a:t>
            </a:r>
            <a:r>
              <a:rPr lang="zh-CN" altLang="en-US" dirty="0"/>
              <a:t>（</a:t>
            </a:r>
            <a:r>
              <a:rPr lang="en-US" altLang="zh-CN" dirty="0"/>
              <a:t>354</a:t>
            </a:r>
            <a:r>
              <a:rPr lang="zh-CN" altLang="en-US" dirty="0"/>
              <a:t>）、</a:t>
            </a:r>
            <a:r>
              <a:rPr lang="en-US" altLang="zh-CN" dirty="0"/>
              <a:t>A007</a:t>
            </a:r>
            <a:r>
              <a:rPr lang="zh-CN" altLang="en-US" dirty="0"/>
              <a:t>（</a:t>
            </a:r>
            <a:r>
              <a:rPr lang="en-US" altLang="zh-CN" dirty="0"/>
              <a:t>43</a:t>
            </a:r>
            <a:r>
              <a:rPr lang="zh-CN" altLang="en-US" dirty="0"/>
              <a:t>）、</a:t>
            </a:r>
            <a:r>
              <a:rPr lang="en-US" altLang="zh-CN" dirty="0"/>
              <a:t>C001</a:t>
            </a:r>
            <a:r>
              <a:rPr lang="zh-CN" altLang="en-US" dirty="0"/>
              <a:t>（</a:t>
            </a:r>
            <a:r>
              <a:rPr lang="en-US" altLang="zh-CN" dirty="0"/>
              <a:t>64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特征与分级参考：</a:t>
            </a:r>
            <a:r>
              <a:rPr lang="en-US" altLang="zh-CN" dirty="0"/>
              <a:t>C002</a:t>
            </a: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特征、三级分类）</a:t>
            </a:r>
          </a:p>
          <a:p>
            <a:r>
              <a:rPr lang="zh-CN" altLang="en-US" dirty="0"/>
              <a:t>对照逻辑参考：</a:t>
            </a:r>
            <a:r>
              <a:rPr lang="en-US" altLang="zh-CN" dirty="0"/>
              <a:t>B001</a:t>
            </a:r>
            <a:r>
              <a:rPr lang="zh-CN" altLang="en-US" dirty="0"/>
              <a:t>（多策略比较）</a:t>
            </a:r>
          </a:p>
        </p:txBody>
      </p:sp>
    </p:spTree>
    <p:extLst>
      <p:ext uri="{BB962C8B-B14F-4D97-AF65-F5344CB8AC3E}">
        <p14:creationId xmlns:p14="http://schemas.microsoft.com/office/powerpoint/2010/main" val="24494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A7136-8FF0-7258-AF3D-47AE1F7F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伦理、合规与解释责任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C8D49-9301-8806-9D64-C56C2778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神经多样性学习分析必须“技术可行 </a:t>
            </a:r>
            <a:r>
              <a:rPr lang="en-US" altLang="zh-CN" b="1" dirty="0"/>
              <a:t>+ </a:t>
            </a:r>
            <a:r>
              <a:rPr lang="zh-CN" altLang="en-US" b="1" dirty="0"/>
              <a:t>伦理可接受”</a:t>
            </a:r>
          </a:p>
          <a:p>
            <a:r>
              <a:rPr lang="zh-CN" altLang="en-US" dirty="0"/>
              <a:t>隐私与敏感数据处理（尤其眼动与认知状态）</a:t>
            </a:r>
          </a:p>
          <a:p>
            <a:r>
              <a:rPr lang="zh-CN" altLang="en-US" dirty="0"/>
              <a:t>避免“诊断替代”叙事，定位为学习支持系统</a:t>
            </a:r>
          </a:p>
          <a:p>
            <a:r>
              <a:rPr lang="zh-CN" altLang="en-US" dirty="0"/>
              <a:t>保证模型透明与人工可干预机制</a:t>
            </a:r>
          </a:p>
          <a:p>
            <a:r>
              <a:rPr lang="zh-CN" altLang="en-US" dirty="0"/>
              <a:t>引入参与式反馈闭环（学习者与教师共同修正）</a:t>
            </a:r>
          </a:p>
          <a:p>
            <a:r>
              <a:rPr lang="zh-CN" altLang="en-US" b="1" dirty="0"/>
              <a:t>证据</a:t>
            </a:r>
          </a:p>
          <a:p>
            <a:r>
              <a:rPr lang="en-US" altLang="zh-CN" dirty="0"/>
              <a:t>A001</a:t>
            </a:r>
            <a:r>
              <a:rPr lang="zh-CN" altLang="en-US" dirty="0"/>
              <a:t>：参与式、包容性设计原则</a:t>
            </a:r>
          </a:p>
          <a:p>
            <a:r>
              <a:rPr lang="en-US" altLang="zh-CN" dirty="0"/>
              <a:t>C004</a:t>
            </a:r>
            <a:r>
              <a:rPr lang="zh-CN" altLang="en-US" dirty="0"/>
              <a:t>：教育预测场景中的伦理与实施规范提醒</a:t>
            </a:r>
          </a:p>
        </p:txBody>
      </p:sp>
    </p:spTree>
    <p:extLst>
      <p:ext uri="{BB962C8B-B14F-4D97-AF65-F5344CB8AC3E}">
        <p14:creationId xmlns:p14="http://schemas.microsoft.com/office/powerpoint/2010/main" val="102808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89280-46B1-DB8E-6C59-F9449651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证据强度与不确定性边界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3D327-28B0-F309-4C02-059431CF4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我们知道什么、还不能断言什么</a:t>
            </a:r>
          </a:p>
          <a:p>
            <a:r>
              <a:rPr lang="zh-CN" altLang="en-US" dirty="0"/>
              <a:t>已较稳健：</a:t>
            </a:r>
          </a:p>
          <a:p>
            <a:pPr lvl="1"/>
            <a:r>
              <a:rPr lang="zh-CN" altLang="en-US" dirty="0"/>
              <a:t>眼动可用于认知状态推断</a:t>
            </a:r>
          </a:p>
          <a:p>
            <a:pPr lvl="1"/>
            <a:r>
              <a:rPr lang="zh-CN" altLang="en-US" dirty="0"/>
              <a:t>神经多样性分群建模有必要</a:t>
            </a:r>
          </a:p>
          <a:p>
            <a:pPr lvl="1"/>
            <a:r>
              <a:rPr lang="zh-CN" altLang="en-US" dirty="0"/>
              <a:t>实时自适应在工程上可实现</a:t>
            </a:r>
          </a:p>
          <a:p>
            <a:r>
              <a:rPr lang="zh-CN" altLang="en-US" dirty="0"/>
              <a:t>仍需谨慎：</a:t>
            </a:r>
          </a:p>
          <a:p>
            <a:pPr lvl="1"/>
            <a:r>
              <a:rPr lang="zh-CN" altLang="en-US" dirty="0"/>
              <a:t>部分新文献引文积累少</a:t>
            </a:r>
          </a:p>
          <a:p>
            <a:pPr lvl="1"/>
            <a:r>
              <a:rPr lang="zh-CN" altLang="en-US" dirty="0"/>
              <a:t>跨源引用计数存在口径差异</a:t>
            </a:r>
          </a:p>
        </p:txBody>
      </p:sp>
    </p:spTree>
    <p:extLst>
      <p:ext uri="{BB962C8B-B14F-4D97-AF65-F5344CB8AC3E}">
        <p14:creationId xmlns:p14="http://schemas.microsoft.com/office/powerpoint/2010/main" val="384844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2399C-664F-59DE-4B44-DC2DC132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008F57A-4AF8-8821-F5A3-B5816E09F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4107" y="2728755"/>
            <a:ext cx="4744112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23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40A34-7A8A-86FE-CC8A-D4E989BE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阶段结论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02F81-53A8-6572-9D35-7CF2D064D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大致内容</a:t>
            </a:r>
          </a:p>
          <a:p>
            <a:r>
              <a:rPr lang="zh-CN" altLang="en-US" dirty="0"/>
              <a:t>结论</a:t>
            </a:r>
            <a:r>
              <a:rPr lang="en-US" altLang="zh-CN" dirty="0"/>
              <a:t>1</a:t>
            </a:r>
            <a:r>
              <a:rPr lang="zh-CN" altLang="en-US" dirty="0"/>
              <a:t>：研究问题成立，且已有跨论文证据链支持</a:t>
            </a:r>
          </a:p>
          <a:p>
            <a:r>
              <a:rPr lang="zh-CN" altLang="en-US" dirty="0"/>
              <a:t>结论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Exp1A</a:t>
            </a:r>
            <a:r>
              <a:rPr lang="zh-CN" altLang="en-US" dirty="0"/>
              <a:t>应优先做“可解释 </a:t>
            </a:r>
            <a:r>
              <a:rPr lang="en-US" altLang="zh-CN" dirty="0"/>
              <a:t>+ </a:t>
            </a:r>
            <a:r>
              <a:rPr lang="zh-CN" altLang="en-US" dirty="0"/>
              <a:t>分群敏感 </a:t>
            </a:r>
            <a:r>
              <a:rPr lang="en-US" altLang="zh-CN" dirty="0"/>
              <a:t>+ </a:t>
            </a:r>
            <a:r>
              <a:rPr lang="zh-CN" altLang="en-US" dirty="0"/>
              <a:t>低侵入部署”</a:t>
            </a:r>
          </a:p>
          <a:p>
            <a:r>
              <a:rPr lang="zh-CN" altLang="en-US" dirty="0"/>
              <a:t>结论</a:t>
            </a:r>
            <a:r>
              <a:rPr lang="en-US" altLang="zh-CN" dirty="0"/>
              <a:t>3</a:t>
            </a:r>
            <a:r>
              <a:rPr lang="zh-CN" altLang="en-US" dirty="0"/>
              <a:t>：建议先跑</a:t>
            </a:r>
            <a:r>
              <a:rPr lang="en-US" altLang="zh-CN" dirty="0"/>
              <a:t>MVP</a:t>
            </a:r>
            <a:r>
              <a:rPr lang="zh-CN" altLang="en-US" dirty="0"/>
              <a:t>并建立评估闭环，再上</a:t>
            </a:r>
            <a:r>
              <a:rPr lang="en-US" altLang="zh-CN" dirty="0"/>
              <a:t>DRL</a:t>
            </a:r>
            <a:r>
              <a:rPr lang="zh-CN" altLang="en-US" dirty="0"/>
              <a:t>复杂策略</a:t>
            </a:r>
          </a:p>
          <a:p>
            <a:r>
              <a:rPr lang="zh-CN" altLang="en-US" b="1" dirty="0"/>
              <a:t>可放的具体证据</a:t>
            </a:r>
          </a:p>
          <a:p>
            <a:r>
              <a:rPr lang="zh-CN" altLang="en-US" dirty="0"/>
              <a:t>核心三链条：</a:t>
            </a:r>
            <a:r>
              <a:rPr lang="en-US" altLang="zh-CN" dirty="0"/>
              <a:t>C001/C002</a:t>
            </a:r>
            <a:r>
              <a:rPr lang="zh-CN" altLang="en-US" dirty="0"/>
              <a:t>（识别） </a:t>
            </a:r>
            <a:r>
              <a:rPr lang="en-US" altLang="zh-CN" dirty="0"/>
              <a:t>+ A007/A008/C007</a:t>
            </a:r>
            <a:r>
              <a:rPr lang="zh-CN" altLang="en-US" dirty="0"/>
              <a:t>（群体） </a:t>
            </a:r>
            <a:r>
              <a:rPr lang="en-US" altLang="zh-CN" dirty="0"/>
              <a:t>+ B001/C008/B009</a:t>
            </a:r>
            <a:r>
              <a:rPr lang="zh-CN" altLang="en-US" dirty="0"/>
              <a:t>（决策）</a:t>
            </a:r>
          </a:p>
          <a:p>
            <a:r>
              <a:rPr lang="zh-CN" altLang="en-US" dirty="0"/>
              <a:t>工程与伦理双线支撑：</a:t>
            </a:r>
            <a:r>
              <a:rPr lang="en-US" altLang="zh-CN" dirty="0"/>
              <a:t>A004/C004/A001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5853994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</TotalTime>
  <Words>1018</Words>
  <Application>Microsoft Office PowerPoint</Application>
  <PresentationFormat>宽屏</PresentationFormat>
  <Paragraphs>103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回顾</vt:lpstr>
      <vt:lpstr>Literature Review</vt:lpstr>
      <vt:lpstr>神经多样性学习者的眼动驱动自适应学习系统：文献证据与实验设计路线</vt:lpstr>
      <vt:lpstr>为什么要做：问题背景与现实缺口</vt:lpstr>
      <vt:lpstr>证据集与筛选结构</vt:lpstr>
      <vt:lpstr>方法证据链1：眼动能否识别认知状态</vt:lpstr>
      <vt:lpstr>方法证据链2：神经多样性专用建模必要性</vt:lpstr>
      <vt:lpstr>方法证据链3：从状态识别到自适应决策</vt:lpstr>
      <vt:lpstr>工程实现蓝图</vt:lpstr>
      <vt:lpstr>实验设计</vt:lpstr>
      <vt:lpstr>伦理、合规与解释责任</vt:lpstr>
      <vt:lpstr>证据强度与不确定性边界</vt:lpstr>
      <vt:lpstr>PowerPoint 演示文稿</vt:lpstr>
      <vt:lpstr>阶段结论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牧琨 杜</dc:creator>
  <cp:lastModifiedBy>牧琨 杜</cp:lastModifiedBy>
  <cp:revision>1</cp:revision>
  <dcterms:created xsi:type="dcterms:W3CDTF">2026-03-30T11:53:50Z</dcterms:created>
  <dcterms:modified xsi:type="dcterms:W3CDTF">2026-03-30T12:50:51Z</dcterms:modified>
</cp:coreProperties>
</file>